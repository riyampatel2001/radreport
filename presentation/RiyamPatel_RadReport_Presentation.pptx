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907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topic. This presentation covers Clinical Natural Language Technology — the AI tools transforming how healthcare organizations process clinical documentation, automate coding, and extract insights from medical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sections quickly — this is a 5-minute presentation. The POC demo at the end is the highlight.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early systems were the foundation. They proved NLP could work in clinical settings but were too fragile for widespread deployment. Each institution needed its own hand-tuned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field is today. The shift from rules to transformers was the first leap. The shift from text-only to multimodal is the second leap — and it's happening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Cotiviti is already in the payment integrity and risk adjustment space — these NLP capabilities are a direct accelerant to what the company already does. The threats are real but manageable with the right governance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01 is directly demonstrated by the RadReport POC you're about to see. Connect the demo back to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screenshare here. Open RadReport in the browser. Upload the chest X-ray first — walk through the findings. Then upload the brain MRI to show it handles different modalities. End on the Export PDF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this slide visible after the demo. Invite questions. If asked why you chose Claude over open-source alternatives — explain: hardware requirements, weaker medical image reasoning, and added backend complexity made open-source the wrong tool for this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54864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18872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82880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246888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54864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118872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182880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246888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54864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18872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82880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46888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54864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18872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82880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246888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54864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118872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82880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246888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54864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118872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82880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2468880"/>
            <a:ext cx="54864" cy="54864"/>
          </a:xfrm>
          <a:prstGeom prst="ellipse">
            <a:avLst/>
          </a:prstGeom>
          <a:solidFill>
            <a:srgbClr val="3D5068">
              <a:alpha val="40000"/>
            </a:srgbClr>
          </a:solidFill>
          <a:ln w="12700">
            <a:solidFill>
              <a:srgbClr val="3D506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12801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Natural Language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in Health Care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365760" y="3246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Past, Present &amp; Future Approaches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OCR · Computer Vision · LLM · LMM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4480560"/>
            <a:ext cx="8412480" cy="1828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·  Healthcare AI &amp; Clinical NLP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270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554480"/>
            <a:ext cx="0" cy="292608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472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Clinical NLP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007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rule-based systems to multimodal 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1854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212848"/>
            <a:ext cx="0" cy="292608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 Frontier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3591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LLMs, and vision-language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8437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2871216"/>
            <a:ext cx="0" cy="292608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Threats for Cotiviti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0175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integrity, quality measurement, risk adjustment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9242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529584"/>
            <a:ext cx="0" cy="292608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4472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6758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positions Cotiviti should consider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0D3B40"/>
          </a:solidFill>
          <a:ln w="12700">
            <a:solidFill>
              <a:srgbClr val="00C2D1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160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7280" y="4187952"/>
            <a:ext cx="0" cy="292608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1056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POC Demo - RadReport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4440" y="43342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radiology report generator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THE PAST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Systems &amp; Early NLP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111827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0D3B40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NLP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4231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MedLEE and MetaMap used hand-crafted rules and ontologies (SNOMED CT, UMLS) to extract structured data from clinical notes. Effective but brittle.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14173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111827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155448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0D3B40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5544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Digitization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4231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character recognition enabled paper record digitization. Output was noisy and required significant post-processing to be usable.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4173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111827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1656" y="155448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0D3B40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5544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9088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24231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improved on rules but still required heavy feature engineering and domain-specific training data.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established: Named Entity Recognition (NER) · Relation Extraction · Negation Detection · Assertion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PRESENT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Transformers, LLMs &amp; Multimodal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90472"/>
            <a:ext cx="237744" cy="237744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90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&amp; ClinicalBERT (2019–2020)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pre-trained on biomedical corpora dramatically improved NER accuracy for diagnoses, medications, and procedures - without hand-crafted rules.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87752"/>
            <a:ext cx="237744" cy="237744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&amp; Claude (2023–present)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8163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LLMs extended NLP to summarization, Q&amp;A, report drafting, and structured data extraction in a single model call.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685032"/>
            <a:ext cx="237744" cy="237744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85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611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Multimodal Models (LMMs)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9136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frontier: models that jointly reason over text AND images - analyzing X-rays, CT scans, MRIs to generate clinical reports.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0A0E1A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72200" y="2395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chart review time with NLP-assisted coding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2648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172200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LLM-based clinical NER vs. 78% rule-based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$8.3B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172200" y="4315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clinical NLP market size by 2027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COTIVITI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&amp; Threats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896112"/>
          </a:xfrm>
          <a:prstGeom prst="roundRect">
            <a:avLst>
              <a:gd name="adj" fmla="val 6122"/>
            </a:avLst>
          </a:prstGeom>
          <a:solidFill>
            <a:srgbClr val="0D2B1A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coding assistance reduces claim errors and flags upcoding patterns with greater precision than rule-based audits.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4023360" cy="896112"/>
          </a:xfrm>
          <a:prstGeom prst="roundRect">
            <a:avLst>
              <a:gd name="adj" fmla="val 6122"/>
            </a:avLst>
          </a:prstGeom>
          <a:solidFill>
            <a:srgbClr val="0D2B1A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980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Measurement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07238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surfaces HEDIS-relevant data buried in unstructured notes, reducing expensive manual chart review.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12464"/>
            <a:ext cx="4023360" cy="896112"/>
          </a:xfrm>
          <a:prstGeom prst="roundRect">
            <a:avLst>
              <a:gd name="adj" fmla="val 6122"/>
            </a:avLst>
          </a:prstGeom>
          <a:solidFill>
            <a:srgbClr val="0D2B1A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785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Adjustment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0599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 process both clinical docs and imaging for more accurate HCC coding recommendations.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737360"/>
            <a:ext cx="3931920" cy="896112"/>
          </a:xfrm>
          <a:prstGeom prst="roundRect">
            <a:avLst>
              <a:gd name="adj" fmla="val 6122"/>
            </a:avLst>
          </a:prstGeom>
          <a:solidFill>
            <a:srgbClr val="2B1A0D"/>
          </a:solidFill>
          <a:ln w="12700">
            <a:solidFill>
              <a:srgbClr val="7A3A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810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2084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plausible but incorrect findings. In clinical contexts, errors carry patient safety consequences.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724912"/>
            <a:ext cx="3931920" cy="896112"/>
          </a:xfrm>
          <a:prstGeom prst="roundRect">
            <a:avLst>
              <a:gd name="adj" fmla="val 6122"/>
            </a:avLst>
          </a:prstGeom>
          <a:solidFill>
            <a:srgbClr val="2B1A0D"/>
          </a:solidFill>
          <a:ln w="12700">
            <a:solidFill>
              <a:srgbClr val="7A3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Bias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07238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underperform on underrepresented patient populations, creating disparate outcomes across demographics.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712464"/>
            <a:ext cx="3931920" cy="896112"/>
          </a:xfrm>
          <a:prstGeom prst="roundRect">
            <a:avLst>
              <a:gd name="adj" fmla="val 6122"/>
            </a:avLst>
          </a:prstGeom>
          <a:solidFill>
            <a:srgbClr val="2B1A0D"/>
          </a:solidFill>
          <a:ln w="12700">
            <a:solidFill>
              <a:srgbClr val="7A3A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37856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Trust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40599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depends on clinicians accepting AI as decision support = not replacement. Culture change is slow.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Strategic Positions for Cotiviti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BF9FA"/>
          </a:solidFill>
          <a:ln w="19050">
            <a:solidFill>
              <a:srgbClr val="00C2D1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223760" y="150876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0D3B40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508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LMM-Powered Radiology Report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755648"/>
            <a:ext cx="7269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multimodal AI in an assistive capacity to reduce radiologist documentation burden. The technology is mature enough for production use and directly addresses workforce capacity constraints.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223760" y="265176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2651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88720" y="25877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Clinical NLP Pipeline for Chart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898648"/>
            <a:ext cx="7269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OCR, NER, and LLM summarization to accelerate retrospective quality audits and risk adjustment workflows. Reduces cost per chart review by an estimated 30–40%.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223760" y="379476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794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88720" y="37307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an AI Governance Framework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041648"/>
            <a:ext cx="7269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model validation, bias auditing, and clinician oversight requirements proactively. Positions Cotiviti as a trusted partner to health plans navigating AI adoption cautiously.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RadReport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Radiology Report Generator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965960" cy="320040"/>
          </a:xfrm>
          <a:prstGeom prst="roundRect">
            <a:avLst>
              <a:gd name="adj" fmla="val 48571"/>
            </a:avLst>
          </a:prstGeom>
          <a:solidFill>
            <a:srgbClr val="0D3B40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2377440"/>
            <a:ext cx="1965960" cy="320040"/>
          </a:xfrm>
          <a:prstGeom prst="roundRect">
            <a:avLst>
              <a:gd name="adj" fmla="val 48571"/>
            </a:avLst>
          </a:prstGeom>
          <a:solidFill>
            <a:srgbClr val="0D3B40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Vision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1965960" cy="320040"/>
          </a:xfrm>
          <a:prstGeom prst="roundRect">
            <a:avLst>
              <a:gd name="adj" fmla="val 48571"/>
            </a:avLst>
          </a:prstGeom>
          <a:solidFill>
            <a:srgbClr val="0D3B40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HTML/CSS/JS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2377440"/>
            <a:ext cx="1965960" cy="320040"/>
          </a:xfrm>
          <a:prstGeom prst="roundRect">
            <a:avLst>
              <a:gd name="adj" fmla="val 48571"/>
            </a:avLst>
          </a:prstGeom>
          <a:solidFill>
            <a:srgbClr val="0D3B40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Backend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34440" y="2926080"/>
            <a:ext cx="320040" cy="320040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X-ray, CT, or MRI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081528"/>
            <a:ext cx="182880" cy="0"/>
          </a:xfrm>
          <a:prstGeom prst="line">
            <a:avLst/>
          </a:prstGeom>
          <a:noFill/>
          <a:ln w="12700">
            <a:solidFill>
              <a:srgbClr val="3D50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2926080"/>
            <a:ext cx="320040" cy="320040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337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sent to Claude vision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081528"/>
            <a:ext cx="182880" cy="0"/>
          </a:xfrm>
          <a:prstGeom prst="line">
            <a:avLst/>
          </a:prstGeom>
          <a:noFill/>
          <a:ln w="12700">
            <a:solidFill>
              <a:srgbClr val="3D50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2926080"/>
            <a:ext cx="320040" cy="320040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337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 generated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3081528"/>
            <a:ext cx="182880" cy="0"/>
          </a:xfrm>
          <a:prstGeom prst="line">
            <a:avLst/>
          </a:prstGeom>
          <a:noFill/>
          <a:ln w="12700">
            <a:solidFill>
              <a:srgbClr val="3D50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2926080"/>
            <a:ext cx="320040" cy="320040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337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with section formatting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NLP is no longer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future investment -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present necessity.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971800"/>
            <a:ext cx="201168" cy="201168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has crossed the threshold from research to production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410712"/>
            <a:ext cx="201168" cy="201168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364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Cotiviti's core workflows are direct beneficiaries of LLM and LMM capabilities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849624"/>
            <a:ext cx="201168" cy="201168"/>
          </a:xfrm>
          <a:prstGeom prst="ellipse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039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RadReport demonstrates a working multimodal clinical AI in a single HTML file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663440"/>
            <a:ext cx="8412480" cy="1828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945</Words>
  <Application>Microsoft Office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NLP Technology in Health Care</dc:title>
  <dc:subject>PptxGenJS Presentation</dc:subject>
  <dc:creator>Intern Assessment</dc:creator>
  <cp:lastModifiedBy>Riyam Patel</cp:lastModifiedBy>
  <cp:revision>2</cp:revision>
  <dcterms:created xsi:type="dcterms:W3CDTF">2026-06-30T01:03:15Z</dcterms:created>
  <dcterms:modified xsi:type="dcterms:W3CDTF">2026-06-30T01:54:32Z</dcterms:modified>
</cp:coreProperties>
</file>